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540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2540"/>
                </a:solidFill>
                <a:latin typeface="Georgia"/>
              </a:rPr>
              <a:t>Average TMAX by Year — NOAA GHCN-Daily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TMAX (°C)</c:v>
                </c:pt>
              </c:strCache>
            </c:strRef>
          </c:tx>
          <c:spPr>
            <a:ln w="38100" cap="flat">
              <a:solidFill>
                <a:srgbClr val="1FB6A8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1FB6A8"/>
              </a:solidFill>
              <a:ln w="19050" cap="flat">
                <a:solidFill>
                  <a:srgbClr val="138A7F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16.899999999999999</c:v>
                </c:pt>
                <c:pt idx="1">
                  <c:v>16.8</c:v>
                </c:pt>
                <c:pt idx="2">
                  <c:v>17.899999999999999</c:v>
                </c:pt>
                <c:pt idx="3">
                  <c:v>17.100000000000001</c:v>
                </c:pt>
                <c:pt idx="4">
                  <c:v>17.7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3F-4053-9478-703F0A0FD57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"/>
          <c:min val="15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540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2540"/>
                </a:solidFill>
                <a:latin typeface="Georgia"/>
              </a:rPr>
              <a:t>Station-Days With TMAX &gt; 35°C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Extreme-heat station-days (TMAX &gt; 35°C)</c:v>
                </c:pt>
              </c:strCache>
            </c:strRef>
          </c:tx>
          <c:spPr>
            <a:solidFill>
              <a:srgbClr val="F08A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164972</c:v>
                </c:pt>
                <c:pt idx="1">
                  <c:v>158156</c:v>
                </c:pt>
                <c:pt idx="2">
                  <c:v>139889</c:v>
                </c:pt>
                <c:pt idx="3">
                  <c:v>189002</c:v>
                </c:pt>
                <c:pt idx="4">
                  <c:v>196501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F6-4B61-8C98-B302521ED5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7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868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VERİ İŞLEME TEKNİKLERİ VE UYGULAMALARI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NOAA GHCN-Daily Big-Data Analysis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Distributed Spark + Hadoop Cluster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0584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90 million real weather observations on a 9-container distributed architecture (Spark, Hadoop, Hive, RStudio)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4343400"/>
            <a:ext cx="5166360" cy="1417320"/>
          </a:xfrm>
          <a:prstGeom prst="rect">
            <a:avLst/>
          </a:prstGeom>
          <a:solidFill>
            <a:srgbClr val="1B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4343400"/>
            <a:ext cx="91440" cy="14173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45079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4846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ABDULLAHI Mohamed Abdullah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5303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No:  2528190501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343400"/>
            <a:ext cx="4846320" cy="1417320"/>
          </a:xfrm>
          <a:prstGeom prst="rect">
            <a:avLst/>
          </a:prstGeom>
          <a:solidFill>
            <a:srgbClr val="1B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4343400"/>
            <a:ext cx="91440" cy="14173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4507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8737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Assist. Prof. Dr. Ömer Faruk Acar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NOAA GHCN-Daily 2020–2024  •  Apache Spark 3.2 · Hadoop HDFS · Hive · Parquet · sparklyr · ggplot2 ·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distributed big-data pipeline that ingests, processes, and analyses a real, large-scale public dataset using industry-standard infrastructure components.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86400" cy="1188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2296" cy="11887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862072"/>
            <a:ext cx="502920" cy="502920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715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Architecture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63040" y="3063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9-container cluster: HDFS + Spark + Hive + RStudio + Docker Compose.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5486400" cy="1188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2514600"/>
            <a:ext cx="82296" cy="11887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48272" y="2862072"/>
            <a:ext cx="502920" cy="502920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48272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2715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Big Data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06640" y="3063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genuine large-scale public dataset — not synthetic or toy data.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486400" cy="1188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2296" cy="11887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63040" y="4434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CSV to Snappy-compressed Parquet, partitioned by year on HDFS.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886200"/>
            <a:ext cx="5486400" cy="1188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92240" y="3886200"/>
            <a:ext cx="82296" cy="11887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48272" y="4233672"/>
            <a:ext cx="502920" cy="502920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4087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406640" y="4434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Spark ETL across two parallel worker nodes.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5486400" cy="1188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82296" cy="11887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" y="5605272"/>
            <a:ext cx="502920" cy="502920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463040" y="5458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463040" y="58064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data from RStudio via sparklyr and produce publication-quality plots.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92240" y="5257800"/>
            <a:ext cx="5486400" cy="1188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92240" y="5257800"/>
            <a:ext cx="82296" cy="11887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48272" y="5605272"/>
            <a:ext cx="502920" cy="502920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48272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406640" y="5458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Results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7406640" y="58064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quantitative climate analyses with reproducible outputs.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Dataset: NOAA GHCN-Daily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Source.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NOAA's </a:t>
            </a:r>
            <a:r>
              <a:rPr lang="en-US" sz="14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Historical Climatology Network – Daily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(GHCN-Daily), the primary international climate-research dataset. Downloaded from the official NOAA-AWS Open Data mirror at </a:t>
            </a:r>
            <a:r>
              <a:rPr lang="en-US" sz="1400" dirty="0">
                <a:solidFill>
                  <a:srgbClr val="13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noaa-ghcn-pds.s3.amazonaws.com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Scope.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global daily observations (2020–2024) from 100,000+ meteorological stations worldwide.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Elements.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TMAX (max temperature), TMIN (min), PRCP (precipitation). Temperature is recorded as integer tenths of a degree Celsius.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Quality.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QC-flagged records (Q-FLAG present) are excluded during ETL, ensuring only validated observations enter the analysis.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4937760" cy="1078992"/>
          </a:xfrm>
          <a:prstGeom prst="rect">
            <a:avLst/>
          </a:prstGeom>
          <a:solidFill>
            <a:srgbClr val="0F254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0" y="1371600"/>
            <a:ext cx="109728" cy="1078992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0" y="14813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90,744,056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2084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quality filtering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587752"/>
            <a:ext cx="4937760" cy="1078992"/>
          </a:xfrm>
          <a:prstGeom prst="rect">
            <a:avLst/>
          </a:prstGeom>
          <a:solidFill>
            <a:srgbClr val="0F254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75120" y="2587752"/>
            <a:ext cx="109728" cy="1078992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2697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~756 MB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3300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(.csv.gz) raw size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3803904"/>
            <a:ext cx="4937760" cy="1078992"/>
          </a:xfrm>
          <a:prstGeom prst="rect">
            <a:avLst/>
          </a:prstGeom>
          <a:solidFill>
            <a:srgbClr val="0F254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3803904"/>
            <a:ext cx="109728" cy="1078992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4088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years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45171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files 2020–2024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0" y="5020056"/>
            <a:ext cx="4937760" cy="1078992"/>
          </a:xfrm>
          <a:prstGeom prst="rect">
            <a:avLst/>
          </a:prstGeom>
          <a:solidFill>
            <a:srgbClr val="0F254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0" y="5020056"/>
            <a:ext cx="109728" cy="1078992"/>
          </a:xfrm>
          <a:prstGeom prst="rect">
            <a:avLst/>
          </a:prstGeom>
          <a:solidFill>
            <a:srgbClr val="1F9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51297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5733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weather stations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9 Docker Containers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91840" cy="4023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 TIER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7432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Master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2743200" cy="777240"/>
          </a:xfrm>
          <a:prstGeom prst="rect">
            <a:avLst/>
          </a:prstGeom>
          <a:solidFill>
            <a:srgbClr val="2E4A7D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— replica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2743200" cy="777240"/>
          </a:xfrm>
          <a:prstGeom prst="rect">
            <a:avLst/>
          </a:prstGeom>
          <a:solidFill>
            <a:srgbClr val="2E4A7D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— replica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factor: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partitioned by 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Snappy-compressed Parquet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1371600"/>
            <a:ext cx="3291840" cy="4023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0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COMPUTE TIER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828800"/>
            <a:ext cx="27432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spark-master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2788920"/>
            <a:ext cx="2743200" cy="777240"/>
          </a:xfrm>
          <a:prstGeom prst="rect">
            <a:avLst/>
          </a:prstGeom>
          <a:solidFill>
            <a:srgbClr val="138A7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spark-worker-1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cores · 1.5 GB executor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749040"/>
            <a:ext cx="2743200" cy="777240"/>
          </a:xfrm>
          <a:prstGeom prst="rect">
            <a:avLst/>
          </a:prstGeom>
          <a:solidFill>
            <a:srgbClr val="138A7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spark-worker-2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cores · 1.5 GB executor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46177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 + sparklyr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cores · 3.0 GB total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Kryo serializer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1371600"/>
            <a:ext cx="4160520" cy="4023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0" y="1426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ANALYSIS TIER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1828800"/>
            <a:ext cx="36576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hive-metastore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catalog — Thrift :9083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2788920"/>
            <a:ext cx="3657600" cy="777240"/>
          </a:xfrm>
          <a:prstGeom prst="rect">
            <a:avLst/>
          </a:prstGeom>
          <a:solidFill>
            <a:srgbClr val="2E4A7D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0" y="2862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Metastore database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3749040"/>
            <a:ext cx="3657600" cy="777240"/>
          </a:xfrm>
          <a:prstGeom prst="rect">
            <a:avLst/>
          </a:prstGeom>
          <a:solidFill>
            <a:srgbClr val="F08A2C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Server :8787 — sparklyr + ggplot2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4617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UIs exposed: HDFS :9870, Spark :8080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rot="5400000">
            <a:off x="3703320" y="3337560"/>
            <a:ext cx="320040" cy="457200"/>
          </a:xfrm>
          <a:prstGeom prst="rtTriangle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rot="5400000">
            <a:off x="7178040" y="3337560"/>
            <a:ext cx="320040" cy="457200"/>
          </a:xfrm>
          <a:prstGeom prst="rtTriangle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is independently scalable. Data flows: HDFS → Spark Workers → sparklyr in RStudio. Schema is registered in Hive Metastore (backed by PostgreSQL).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open-source big-data tooling. Every component is production-ready and used by major data platforms worldwide.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91440" cy="1078992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3.2.1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in-memory compute engine.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master + 2 workers, 4 cores, 3 GB total.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2011680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91440" cy="1078992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121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HDFS 3.2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6656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file system. 1 NameNode + 2 DataNodes with replication factor 2.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91440" cy="1078992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3649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Hive Metastore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3758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catalog over HDFS. Allows SQL queries on Parquet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255264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255264"/>
            <a:ext cx="91440" cy="1078992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3649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11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66560" y="3758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backing store for the Hive Metastore service.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98848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498848"/>
            <a:ext cx="91440" cy="1078992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6085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Parquet + Snappy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5001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binary format with fast compression. Partitioned by year.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4498848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92240" y="4498848"/>
            <a:ext cx="91440" cy="1078992"/>
          </a:xfrm>
          <a:prstGeom prst="rect">
            <a:avLst/>
          </a:prstGeom>
          <a:solidFill>
            <a:srgbClr val="F08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46085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sparklyr + dplyr + ggplot2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766560" y="5001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interface to Spark. Cluster-scale data analysis from RStudio.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742432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5742432"/>
            <a:ext cx="91440" cy="1078992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852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Server 4.3.2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2960" y="62453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 IDE running inside Docker.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92240" y="5742432"/>
            <a:ext cx="5486400" cy="1078992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92240" y="5742432"/>
            <a:ext cx="91440" cy="1078992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0" y="5852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766560" y="62453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9-container orchestration on a single host.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Pipeline — CSV → Parquet on HDFS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job parses 5 yearly gzipped CSVs, applies quality checks, derives time features, and writes a columnar dataset partitioned by year on HDFS.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148840" cy="502920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.csv.gz 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HDFS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02052" y="3218688"/>
            <a:ext cx="118872" cy="320040"/>
          </a:xfrm>
          <a:prstGeom prst="rtTriangle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16352" y="22402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16352" y="2240280"/>
            <a:ext cx="2148840" cy="502920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5351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2313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99232" y="301752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8-column NOAA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69764" y="3218688"/>
            <a:ext cx="118872" cy="320040"/>
          </a:xfrm>
          <a:prstGeom prst="rtTriangle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84064" y="22402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4064" y="2240280"/>
            <a:ext cx="2148840" cy="502920"/>
          </a:xfrm>
          <a:prstGeom prst="rect">
            <a:avLst/>
          </a:prstGeom>
          <a:solidFill>
            <a:srgbClr val="138A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21224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41264" y="2313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66944" y="301752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QC-flagged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TMAX/TMIN/PRCP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237476" y="3218688"/>
            <a:ext cx="118872" cy="320040"/>
          </a:xfrm>
          <a:prstGeom prst="rtTriangle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51776" y="22402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51776" y="2240280"/>
            <a:ext cx="2148840" cy="502920"/>
          </a:xfrm>
          <a:prstGeom prst="rect">
            <a:avLst/>
          </a:prstGeom>
          <a:solidFill>
            <a:srgbClr val="2E4A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88936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08976" y="2313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34656" y="301752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year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day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fields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5400000">
            <a:off x="9505188" y="3218688"/>
            <a:ext cx="118872" cy="320040"/>
          </a:xfrm>
          <a:prstGeom prst="rtTriangle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19488" y="22402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19488" y="2240280"/>
            <a:ext cx="2148840" cy="50292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56648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76688" y="2313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02368" y="301752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 Parquet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year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HDFS (2× replicated)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0F2540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RESULT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90,744,056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77724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validated NOAA observations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60720" y="51663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5 year-partitioned Parquet directories under
</a:t>
            </a:r>
            <a:r>
              <a:rPr lang="en-US" sz="1100" dirty="0">
                <a:solidFill>
                  <a:srgbClr val="1FB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/user/hive/warehouse/weather.db/noaa_observations/year={2020,2021,2022,2023,2024}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across both DataNodes. Snappy compression.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1 — Annual Temperature Trend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3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23760" y="169164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data, averaged over 100,000+ global stations:
• 2020 → 2021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dip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(16.9 → 16.8 °C)
• 2021 → 2022 </a:t>
            </a:r>
            <a:r>
              <a:rPr lang="en-US" sz="1300" b="1" dirty="0">
                <a:solidFill>
                  <a:srgbClr val="F0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rise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(16.8 → 17.9 °C)
• 2023 minor pullback (17.1 °C)
• 2024 rebound to 17.7 °C
</a:t>
            </a: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trend: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over the 5-year window despite year-to-year variation. The linear regression overlay in the RStudio plot quantifies this slope.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5989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note:  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datapoint is the unweighted mean of every valid TMAX observation worldwide that year. Bias toward northern-hemisphere station density is acknowledged.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2 — Monthly Seasonality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3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PLOT SHOWS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69164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TMAX aggregated across all years, by calendar month.
</a:t>
            </a: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pattern: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Northern-Hemisphere-dominated seasonal cycle — trough around January/February, peak around July/August.
</a:t>
            </a: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GHCN-Daily stations are in North America, Europe, and Asia. The unweighted global mean is therefore biased toward NH seasons.
</a:t>
            </a: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by Spark across all 90.7M rows, with the small monthly summary collected back to R for ggplot rendering.</a:t>
            </a:r>
            <a:endParaRPr lang="en-US" sz="12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A211F4-15FB-7BEB-2BAD-9FBCB46E8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93" y="2119745"/>
            <a:ext cx="7172568" cy="398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3 — Extreme-Heat Days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3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23760" y="1737360"/>
            <a:ext cx="4389120" cy="1554480"/>
          </a:xfrm>
          <a:prstGeom prst="rect">
            <a:avLst/>
          </a:prstGeom>
          <a:solidFill>
            <a:srgbClr val="F08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23760" y="1828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+40 %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223760" y="2743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extreme-heat days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→ 2024 (139,889 → 196,501)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23760" y="352044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2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extreme-heat station-day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any station/date with TMAX &gt; 35°C (i.e. &gt; 350 in NOAA's tenths-of-a-degree units).
After a dip in 2022, frequency rose sharply for two consecutive years, finishing at the highest count in the 5-year window. This aligns with widely reported global heat records in 2023 and 2024.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— Anticipated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137160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91440" cy="13716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53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Is the data synthetic?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No. 90.7 million real measurements from NOAA GHCN-Daily, downloaded from the official NOAA-AWS Open Data mirror. Same source used in published climate research.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5486400" cy="137160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91440" cy="13716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1453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Why this dataset?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1828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Large-scale (10⁸ rows in this slice, 10⁹+ in the full archive), free, well-documented, scientifically meaningful. A real big-data problem, not a toy.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5486400" cy="137160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91440" cy="13716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Is the system actually distributed?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33649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Yes. Two HDFS DataNodes with replication factor 2. Two Spark Workers executing in parallel. Hive Metastore as a separate service backed by PostgreSQL. 9 containers, demonstrable via the running web UIs.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2862072"/>
            <a:ext cx="5486400" cy="137160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92240" y="2862072"/>
            <a:ext cx="91440" cy="13716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Why Parquet over CSV?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66560" y="33649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Columnar storage with Snappy compression: smaller files, fast scans of subsets of columns. Year-based partitioning enables partition pruning so queries skip entire files.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5486400" cy="137160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398264"/>
            <a:ext cx="91440" cy="13716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Why Spark instead of Pandas?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90118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Pandas would have to load all ~6 GB uncompressed into a single machine's RAM. Spark distributes the work across workers — each handles a partition, only the small aggregated result returns to the driver.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398264"/>
            <a:ext cx="5486400" cy="1371600"/>
          </a:xfrm>
          <a:prstGeom prst="rect">
            <a:avLst/>
          </a:prstGeom>
          <a:solidFill>
            <a:srgbClr val="F2F5FA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398264"/>
            <a:ext cx="91440" cy="13716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What analyses did you run?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490118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Annual TMAX trend with linear regression, monthly seasonality, and extreme-heat day count per year. All run from RStudio via sparklyr against the Hive-warehouse-located Parquet.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594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6858000" cy="1005840"/>
          </a:xfrm>
          <a:prstGeom prst="rect">
            <a:avLst/>
          </a:prstGeom>
          <a:solidFill>
            <a:srgbClr val="1B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82296" cy="100584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81965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delivered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NOAA data ingested, processed in parallel on Spark, persisted as Parquet on HDFS, and analysed interactively from RStudio — every layer of a modern big-data stack.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807208"/>
            <a:ext cx="6858000" cy="1005840"/>
          </a:xfrm>
          <a:prstGeom prst="rect">
            <a:avLst/>
          </a:prstGeom>
          <a:solidFill>
            <a:srgbClr val="1B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807208"/>
            <a:ext cx="82296" cy="100584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293522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million rows on a single workstation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3101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9-container distributed cluster orchestrated by Docker Compose. 4 cores and 3 GB total Spark memory handled the full ETL in ~30 minutes.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922776"/>
            <a:ext cx="6858000" cy="1005840"/>
          </a:xfrm>
          <a:prstGeom prst="rect">
            <a:avLst/>
          </a:prstGeom>
          <a:solidFill>
            <a:srgbClr val="1B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922776"/>
            <a:ext cx="82296" cy="100584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40507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scientific 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42569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trend, seasonality, and extreme-heat counts — all reproducible from the same Parquet warehouse with the same R script.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5038344"/>
            <a:ext cx="6858000" cy="1005840"/>
          </a:xfrm>
          <a:prstGeom prst="rect">
            <a:avLst/>
          </a:prstGeom>
          <a:solidFill>
            <a:srgbClr val="1B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5038344"/>
            <a:ext cx="82296" cy="100584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that scales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54126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single-host docker-compose with a multi-node Kubernetes deployment and the same code processes terabytes.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383280" cy="2011680"/>
          </a:xfrm>
          <a:prstGeom prst="rect">
            <a:avLst/>
          </a:prstGeom>
          <a:solidFill>
            <a:srgbClr val="1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0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90.7 M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8229600" y="2880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rows processed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 Spark workers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0" y="4297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the full GHCN-Daily archive (100+ years)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station-metadata join for geographic analyses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multi-node Kubernetes with YARN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for forecasting / regression on TMAX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6172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5A0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•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1471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NOAA GHCN-Daily Big-Data Analysis</dc:title>
  <dc:subject>PptxGenJS Presentation</dc:subject>
  <dc:creator>NOAA Big Data Analysis</dc:creator>
  <cp:lastModifiedBy>abdullahi mohamed</cp:lastModifiedBy>
  <cp:revision>2</cp:revision>
  <dcterms:created xsi:type="dcterms:W3CDTF">2026-05-31T01:44:31Z</dcterms:created>
  <dcterms:modified xsi:type="dcterms:W3CDTF">2026-06-06T14:21:05Z</dcterms:modified>
</cp:coreProperties>
</file>